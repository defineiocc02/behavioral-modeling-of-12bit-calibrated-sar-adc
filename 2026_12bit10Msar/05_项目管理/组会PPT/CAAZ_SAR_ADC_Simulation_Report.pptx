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01200" cy="685800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12-bit 50MS/s SAR ADC with CAAZ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4D7FF"/>
                </a:solidFill>
              </a:defRPr>
            </a:pPr>
            <a:r>
              <a:t>完整仿真报告 · 组会汇报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657600" cy="348386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2103120" cy="10058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18287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11.61 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18287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ENOB (TT, 26ns)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743200"/>
            <a:ext cx="2103120" cy="1005840"/>
          </a:xfrm>
          <a:prstGeom prst="rect">
            <a:avLst/>
          </a:prstGeom>
          <a:solidFill>
            <a:srgbClr val="00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79" y="2834640"/>
            <a:ext cx="18287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71.81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79" y="3246120"/>
            <a:ext cx="18287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SNR (TT, 26ns)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2743200"/>
            <a:ext cx="2103120" cy="1005840"/>
          </a:xfrm>
          <a:prstGeom prst="rect">
            <a:avLst/>
          </a:prstGeom>
          <a:solidFill>
            <a:srgbClr val="DC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2834640"/>
            <a:ext cx="18287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87.9%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3246120"/>
            <a:ext cx="18287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CAAZ η (TT)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2743200"/>
            <a:ext cx="2103120" cy="1005840"/>
          </a:xfrm>
          <a:prstGeom prst="rect">
            <a:avLst/>
          </a:prstGeom>
          <a:solidFill>
            <a:srgbClr val="64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2834640"/>
            <a:ext cx="18287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720 µW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3246120"/>
            <a:ext cx="18287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Total Power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C8F0"/>
                </a:solidFill>
              </a:defRPr>
            </a:pPr>
            <a:r>
              <a:t>TSMC 18RF · Cadence Spectre 231 · 全 PVT 角 · 跨批次验证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8C8C"/>
                </a:solidFill>
              </a:defRPr>
            </a:pPr>
            <a:r>
              <a:t>HUST-SAR-2026-002  |  2026-05-13  |  Rev.2.0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5288"/>
                </a:solidFill>
              </a:defRPr>
            </a:pPr>
            <a:r>
              <a:t>汇报提纲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2743200" cy="3483864000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457200" cy="41148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08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23232"/>
                </a:solidFill>
              </a:defRPr>
            </a:pPr>
            <a:r>
              <a:t>设计目标与仿真环境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57400"/>
            <a:ext cx="457200" cy="4114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8483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23232"/>
                </a:solidFill>
              </a:defRPr>
            </a:pPr>
            <a:r>
              <a:t>NF=1 基线性能 — PVT 全角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651760"/>
            <a:ext cx="457200" cy="41148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79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697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23232"/>
                </a:solidFill>
              </a:defRPr>
            </a:pPr>
            <a:r>
              <a:t>td 对比 — 24.05ns vs 26.0ns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246120"/>
            <a:ext cx="457200" cy="4114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735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91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23232"/>
                </a:solidFill>
              </a:defRPr>
            </a:pPr>
            <a:r>
              <a:t>CAAZ 噪声消除效率 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840480"/>
            <a:ext cx="457200" cy="41148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679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86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23232"/>
                </a:solidFill>
              </a:defRPr>
            </a:pPr>
            <a:r>
              <a:t>跨批次数据验证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434840"/>
            <a:ext cx="457200" cy="4114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462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48055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23232"/>
                </a:solidFill>
              </a:defRPr>
            </a:pPr>
            <a:r>
              <a:t>功耗与 SFDR 分析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029200"/>
            <a:ext cx="457200" cy="41148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0566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074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23232"/>
                </a:solidFill>
              </a:defRPr>
            </a:pPr>
            <a:r>
              <a:t>风险评估与优化方向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623560"/>
            <a:ext cx="457200" cy="4114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23232"/>
                </a:solidFill>
              </a:defRPr>
            </a:pPr>
            <a:r>
              <a:t>总结与建议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5288"/>
                </a:solidFill>
              </a:defRPr>
            </a:pPr>
            <a:r>
              <a:t>设计目标与达标情况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2743200" cy="3483864000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463040"/>
          <a:ext cx="7772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42672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52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目标值</a:t>
                      </a:r>
                    </a:p>
                  </a:txBody>
                  <a:tcPr>
                    <a:solidFill>
                      <a:srgbClr val="0052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实测 (TT, 26ns)</a:t>
                      </a:r>
                    </a:p>
                  </a:txBody>
                  <a:tcPr>
                    <a:solidFill>
                      <a:srgbClr val="0052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00528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23232"/>
                          </a:solidFill>
                        </a:defRPr>
                      </a:pPr>
                      <a:r>
                        <a:t>ENOB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23232"/>
                          </a:solidFill>
                        </a:defRPr>
                      </a:pPr>
                      <a:r>
                        <a:t>&gt; 11 bit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23232"/>
                          </a:solidFill>
                        </a:defRPr>
                      </a:pPr>
                      <a:r>
                        <a:t>11.61 bit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8232"/>
                          </a:solidFill>
                        </a:defRPr>
                      </a:pPr>
                      <a:r>
                        <a:t>✅ 超额完成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23232"/>
                          </a:solidFill>
                        </a:defRPr>
                      </a:pPr>
                      <a:r>
                        <a:t>SNR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23232"/>
                          </a:solidFill>
                        </a:defRPr>
                      </a:pPr>
                      <a:r>
                        <a:t>&gt; 70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23232"/>
                          </a:solidFill>
                        </a:defRPr>
                      </a:pPr>
                      <a:r>
                        <a:t>71.81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8232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23232"/>
                          </a:solidFill>
                        </a:defRPr>
                      </a:pPr>
                      <a:r>
                        <a:t>SFDR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23232"/>
                          </a:solidFill>
                        </a:defRPr>
                      </a:pPr>
                      <a:r>
                        <a:t>&gt; 75 dB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23232"/>
                          </a:solidFill>
                        </a:defRPr>
                      </a:pPr>
                      <a:r>
                        <a:t>84.01 dB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8232"/>
                          </a:solidFill>
                        </a:defRPr>
                      </a:pPr>
                      <a:r>
                        <a:t>✅ 超额完成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23232"/>
                          </a:solidFill>
                        </a:defRPr>
                      </a:pPr>
                      <a:r>
                        <a:t>总功耗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23232"/>
                          </a:solidFill>
                        </a:defRPr>
                      </a:pPr>
                      <a:r>
                        <a:t>&lt; 1 mW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23232"/>
                          </a:solidFill>
                        </a:defRPr>
                      </a:pPr>
                      <a:r>
                        <a:t>720 µW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8232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23232"/>
                          </a:solidFill>
                        </a:defRPr>
                      </a:pPr>
                      <a:r>
                        <a:t>CAAZ η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23232"/>
                          </a:solidFill>
                        </a:defRPr>
                      </a:pPr>
                      <a:r>
                        <a:t>&gt; 85%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23232"/>
                          </a:solidFill>
                        </a:defRPr>
                      </a:pPr>
                      <a:r>
                        <a:t>87.9%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8232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14400" y="4389120"/>
            <a:ext cx="7772400" cy="64008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480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5288"/>
                </a:solidFill>
              </a:defRPr>
            </a:pPr>
            <a:r>
              <a:t>✦ 全 corners ENOB &gt; 11.4 bit  ·  ENOB 极差仅 0.14 bit  ·  SFDR &gt; 81 dB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303520"/>
            <a:ext cx="2286000" cy="731520"/>
          </a:xfrm>
          <a:prstGeom prst="rect">
            <a:avLst/>
          </a:prstGeom>
          <a:solidFill>
            <a:srgbClr val="DC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8232"/>
                </a:solidFill>
              </a:defRPr>
            </a:pPr>
            <a:r>
              <a:t>🎯 ENOB目标</a:t>
            </a:r>
            <a:br/>
            <a:r>
              <a:t>均已达成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5303520"/>
            <a:ext cx="2286000" cy="731520"/>
          </a:xfrm>
          <a:prstGeom prst="rect">
            <a:avLst/>
          </a:prstGeom>
          <a:solidFill>
            <a:srgbClr val="DC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5394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8080"/>
                </a:solidFill>
              </a:defRPr>
            </a:pPr>
            <a:r>
              <a:t>📈 SFDR</a:t>
            </a:r>
            <a:br/>
            <a:r>
              <a:t>84 dB 超额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5303520"/>
            <a:ext cx="2834640" cy="731520"/>
          </a:xfrm>
          <a:prstGeom prst="rect">
            <a:avLst/>
          </a:prstGeom>
          <a:solidFill>
            <a:srgbClr val="FF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5394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C7814"/>
                </a:solidFill>
              </a:defRPr>
            </a:pPr>
            <a:r>
              <a:t>⚡ 功耗 720 µW</a:t>
            </a:r>
            <a:br/>
            <a:r>
              <a:t>&lt; 1 mW 目标达成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288"/>
                </a:solidFill>
              </a:defRPr>
            </a:pPr>
            <a:r>
              <a:t>NF=1 基线性能 — PVT 全角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8C8C"/>
                </a:solidFill>
              </a:defRPr>
            </a:pPr>
            <a:r>
              <a:t>td=26.0 ns  |  TT/FF/SS/SF/FS  |  NF=1（无噪声注入）</a:t>
            </a:r>
          </a:p>
        </p:txBody>
      </p:sp>
      <p:pic>
        <p:nvPicPr>
          <p:cNvPr id="5" name="Picture 4" descr="Fig1_PV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46591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288"/>
                </a:solidFill>
              </a:defRPr>
            </a:pPr>
            <a:r>
              <a:t>td 对比 — CAAZ 建立时间优化</a:t>
            </a:r>
          </a:p>
        </p:txBody>
      </p:sp>
      <p:pic>
        <p:nvPicPr>
          <p:cNvPr id="4" name="Picture 3" descr="Fig4_td_Sweep_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217920" cy="44688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49440" y="1188720"/>
            <a:ext cx="4572000" cy="1097280"/>
          </a:xfrm>
          <a:prstGeom prst="rect">
            <a:avLst/>
          </a:prstGeom>
          <a:solidFill>
            <a:srgbClr val="DC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1280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232"/>
                </a:solidFill>
              </a:defRPr>
            </a:pPr>
            <a:r>
              <a:t>🔥 高温角收益最大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</a:defRPr>
            </a:pPr>
            <a:r>
              <a:t>SS/SF (85°C) SNR +1.8 dB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2560320"/>
            <a:ext cx="4572000" cy="1097280"/>
          </a:xfrm>
          <a:prstGeom prst="rect">
            <a:avLst/>
          </a:prstGeom>
          <a:solidFill>
            <a:srgbClr val="DC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651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080"/>
                </a:solidFill>
              </a:defRPr>
            </a:pPr>
            <a:r>
              <a:t>❄️ 低温角无变化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017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</a:defRPr>
            </a:pPr>
            <a:r>
              <a:t>FF/FS (-40°C)  gm 大, 24ns 已充分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3931920"/>
            <a:ext cx="4572000" cy="109728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402335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288"/>
                </a:solidFill>
              </a:defRPr>
            </a:pPr>
            <a:r>
              <a:t>✅ 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</a:defRPr>
            </a:pPr>
            <a:r>
              <a:t>26.0 ns 为最优设计点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288"/>
                </a:solidFill>
              </a:defRPr>
            </a:pPr>
            <a:r>
              <a:t>CAAZ 噪声消除效率 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8C8C"/>
                </a:solidFill>
              </a:defRPr>
            </a:pPr>
            <a:r>
              <a:t>NF=10（100× 噪声注入）| 两批次跨验证</a:t>
            </a:r>
          </a:p>
        </p:txBody>
      </p:sp>
      <p:pic>
        <p:nvPicPr>
          <p:cNvPr id="5" name="Picture 4" descr="Fig2_CAAZ_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400800" cy="462958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32320" y="1188720"/>
            <a:ext cx="4572000" cy="45720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280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288"/>
                </a:solidFill>
              </a:defRPr>
            </a:pPr>
            <a:r>
              <a:t>η 各角汇总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288"/>
                </a:solidFill>
              </a:defRPr>
            </a:pPr>
            <a:r>
              <a:t>TT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8232"/>
                </a:solidFill>
              </a:defRPr>
            </a:pPr>
            <a:r>
              <a:t>87.9%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8232"/>
                </a:solidFill>
              </a:defRPr>
            </a:pPr>
            <a:r>
              <a:t>✅ 达标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514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288"/>
                </a:solidFill>
              </a:defRPr>
            </a:pPr>
            <a:r>
              <a:t>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514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8232"/>
                </a:solidFill>
              </a:defRPr>
            </a:pPr>
            <a:r>
              <a:t>89.4%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8232"/>
                </a:solidFill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200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288"/>
                </a:solidFill>
              </a:defRPr>
            </a:pPr>
            <a:r>
              <a:t>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7814"/>
                </a:solidFill>
              </a:defRPr>
            </a:pPr>
            <a:r>
              <a:t>83.9%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7814"/>
                </a:solidFill>
              </a:defRPr>
            </a:pPr>
            <a:r>
              <a:t>⚠️ 接近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886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288"/>
                </a:solidFill>
              </a:defRPr>
            </a:pPr>
            <a:r>
              <a:t>SF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886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83232"/>
                </a:solidFill>
              </a:defRPr>
            </a:pPr>
            <a:r>
              <a:t>79.7%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886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3232"/>
                </a:solidFill>
              </a:defRPr>
            </a:pPr>
            <a:r>
              <a:t>⚠️ 最差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572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288"/>
                </a:solidFill>
              </a:defRPr>
            </a:pPr>
            <a:r>
              <a:t>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572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8232"/>
                </a:solidFill>
              </a:defRPr>
            </a:pPr>
            <a:r>
              <a:t>91.2%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8232"/>
                </a:solidFill>
              </a:defRPr>
            </a:pPr>
            <a:r>
              <a:t>✅ 最优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5303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288"/>
                </a:solidFill>
              </a:defRPr>
            </a:pPr>
            <a:r>
              <a:t>跨批次 η 偏差 &lt; 1.4 p.p.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669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</a:defRPr>
            </a:pPr>
            <a:r>
              <a:t>结论跨批次稳健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5288"/>
                </a:solidFill>
              </a:defRPr>
            </a:pPr>
            <a:r>
              <a:t>跨批次数据验证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2743200" cy="3483864000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5029200" cy="2286000"/>
          </a:xfrm>
          <a:prstGeom prst="rect">
            <a:avLst/>
          </a:prstGeom>
          <a:solidFill>
            <a:srgbClr val="DC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232"/>
                </a:solidFill>
              </a:defRPr>
            </a:pPr>
            <a:r>
              <a:t>✅ 跨批次一致的指标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</a:defRPr>
            </a:pPr>
            <a:r>
              <a:t>COMPOWER 偏差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232"/>
                </a:solidFill>
              </a:defRPr>
            </a:pPr>
            <a:r>
              <a:t>&lt; 3 µW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</a:defRPr>
            </a:pPr>
            <a:r>
              <a:t>η 偏差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240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232"/>
                </a:solidFill>
              </a:defRPr>
            </a:pPr>
            <a:r>
              <a:t>&lt; 1.4 p.p.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560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</a:defRPr>
            </a:pPr>
            <a:r>
              <a:t>ENOB 偏差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560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232"/>
                </a:solidFill>
              </a:defRPr>
            </a:pPr>
            <a:r>
              <a:t>&lt; 0.2 bit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880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</a:defRPr>
            </a:pPr>
            <a:r>
              <a:t>SNR 偏差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232"/>
                </a:solidFill>
              </a:defRPr>
            </a:pPr>
            <a:r>
              <a:t>&lt; 0.8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00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</a:defRPr>
            </a:pPr>
            <a:r>
              <a:t>数字功耗偏差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232"/>
                </a:solidFill>
              </a:defRPr>
            </a:pPr>
            <a:r>
              <a:t>&lt; 0.5 µW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371600"/>
            <a:ext cx="5029200" cy="228600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3232"/>
                </a:solidFill>
              </a:defRPr>
            </a:pPr>
            <a:r>
              <a:t>⚠️ 需关注的差异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</a:defRPr>
            </a:pPr>
            <a:r>
              <a:t>SWITCHPOWER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3232"/>
                </a:solidFill>
              </a:defRPr>
            </a:pPr>
            <a:r>
              <a:t>+15% 系统性偏高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</a:defRPr>
            </a:pPr>
            <a:r>
              <a:t>→ 原因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3232"/>
                </a:solidFill>
              </a:defRPr>
            </a:pPr>
            <a:r>
              <a:t>CSV 导出表达式差异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</a:defRPr>
            </a:pPr>
            <a:r>
              <a:t>→ 不影响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3232"/>
                </a:solidFill>
              </a:defRPr>
            </a:pPr>
            <a:r>
              <a:t>COMPOWER/数字功耗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</a:defRPr>
            </a:pPr>
            <a:r>
              <a:t>FF 角 SFDR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3232"/>
                </a:solidFill>
              </a:defRPr>
            </a:pPr>
            <a:r>
              <a:t>−3.52 dB 跨批次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114800"/>
            <a:ext cx="10515600" cy="9144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4206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5288"/>
                </a:solidFill>
              </a:defRPr>
            </a:pPr>
            <a:r>
              <a:t>💡 结论：η 跨批次偏差 &lt;1.4 p.p.，CAAZ 效率定性结论稳健，不受批次影响。建议在 Cadence 中确认 SWITCHPOWER 的 Calculator 表达式定义。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288"/>
                </a:solidFill>
              </a:defRPr>
            </a:pPr>
            <a:r>
              <a:t>功耗与 SFDR 分析</a:t>
            </a:r>
          </a:p>
        </p:txBody>
      </p:sp>
      <p:pic>
        <p:nvPicPr>
          <p:cNvPr id="4" name="Picture 3" descr="Fig3_Power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7772400" cy="334411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0" y="1097280"/>
            <a:ext cx="3657600" cy="50292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288"/>
                </a:solidFill>
              </a:defRPr>
            </a:pPr>
            <a:r>
              <a:t>SFDR 汇总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645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8C8C"/>
                </a:solidFill>
              </a:defRPr>
            </a:pPr>
            <a:r>
              <a:t>NF=1, 24ns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23232"/>
                </a:solidFill>
              </a:defRPr>
            </a:pPr>
            <a:r>
              <a:t>77-81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8C8C"/>
                </a:solidFill>
              </a:defRPr>
            </a:pPr>
            <a:r>
              <a:t>NF=1, 26ns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23232"/>
                </a:solidFill>
              </a:defRPr>
            </a:pPr>
            <a:r>
              <a:t>81-84 dB 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560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8C8C"/>
                </a:solidFill>
              </a:defRPr>
            </a:pPr>
            <a:r>
              <a:t>NF=10, 26ns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880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23232"/>
                </a:solidFill>
              </a:defRPr>
            </a:pPr>
            <a:r>
              <a:t>72-77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23232"/>
                </a:solidFill>
              </a:defRPr>
            </a:pPr>
            <a:r>
              <a:t>功耗优化重点: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7490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</a:defRPr>
            </a:pPr>
            <a:r>
              <a:t>🔧 最大优化空间 PREWOCM: 299 µW (41%)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</a:defRPr>
            </a:pPr>
            <a:r>
              <a:t> 预放大器电流可缩小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4572000"/>
            <a:ext cx="3200400" cy="5486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4617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3232"/>
                </a:solidFill>
              </a:defRPr>
            </a:pPr>
            <a:r>
              <a:t>⚠️ SFDR 最差: SS/SF</a:t>
            </a:r>
            <a:br/>
            <a:r>
              <a:t>85°C 下仅 72 dB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5288"/>
                </a:solidFill>
              </a:defRPr>
            </a:pPr>
            <a:r>
              <a:t>风险评估与优化方向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2743200" cy="3483864000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640080" cy="502920"/>
          </a:xfrm>
          <a:prstGeom prst="rect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356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3898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3232"/>
                </a:solidFill>
              </a:defRPr>
            </a:pPr>
            <a:r>
              <a:t>SWITCHPOWER 表达式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417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23232"/>
                </a:solidFill>
              </a:defRPr>
            </a:pPr>
            <a:r>
              <a:t>跨批次 +15% 偏差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057400"/>
            <a:ext cx="640080" cy="502920"/>
          </a:xfrm>
          <a:prstGeom prst="rect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214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0756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3232"/>
                </a:solidFill>
              </a:defRPr>
            </a:pPr>
            <a:r>
              <a:t>DFF 动态节点 keeper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03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23232"/>
                </a:solidFill>
              </a:defRPr>
            </a:pPr>
            <a:r>
              <a:t>CLK1/net2 漏电风险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743200"/>
            <a:ext cx="640080" cy="502920"/>
          </a:xfrm>
          <a:prstGeom prst="rect">
            <a:avLst/>
          </a:prstGeom>
          <a:solidFill>
            <a:srgbClr val="DC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072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7614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7814"/>
                </a:solidFill>
              </a:defRPr>
            </a:pPr>
            <a:r>
              <a:t>预放大器电流优化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788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23232"/>
                </a:solidFill>
              </a:defRPr>
            </a:pPr>
            <a:r>
              <a:t>PREWOCM 占 41%，可缩小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429000"/>
            <a:ext cx="640080" cy="502920"/>
          </a:xfrm>
          <a:prstGeom prst="rect">
            <a:avLst/>
          </a:prstGeom>
          <a:solidFill>
            <a:srgbClr val="DC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930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47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7814"/>
                </a:solidFill>
              </a:defRPr>
            </a:pPr>
            <a:r>
              <a:t>SF 角深度分析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474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23232"/>
                </a:solidFill>
              </a:defRPr>
            </a:pPr>
            <a:r>
              <a:t>η=79.7%, SFDR=72.57 dB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114800"/>
            <a:ext cx="640080" cy="502920"/>
          </a:xfrm>
          <a:prstGeom prst="rect">
            <a:avLst/>
          </a:prstGeom>
          <a:solidFill>
            <a:srgbClr val="DC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788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13308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7814"/>
                </a:solidFill>
              </a:defRPr>
            </a:pPr>
            <a:r>
              <a:t>CCLK H-tree 布局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160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23232"/>
                </a:solidFill>
              </a:defRPr>
            </a:pPr>
            <a:r>
              <a:t>验证 skew &lt;20 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800600"/>
            <a:ext cx="640080" cy="50292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646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8188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288"/>
                </a:solidFill>
              </a:defRPr>
            </a:pPr>
            <a:r>
              <a:t>PEX 反标验证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846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23232"/>
                </a:solidFill>
              </a:defRPr>
            </a:pPr>
            <a:r>
              <a:t>版图后必须进行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5486400"/>
            <a:ext cx="640080" cy="50292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5504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5046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288"/>
                </a:solidFill>
              </a:defRPr>
            </a:pPr>
            <a:r>
              <a:t>低频 1/f 噪声排查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5532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23232"/>
                </a:solidFill>
              </a:defRPr>
            </a:pPr>
            <a:r>
              <a:t>N=5 比 N=61 退化 ~0.3 bit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01200" cy="685800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总结与建议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743200" cy="348386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8229600" cy="822960"/>
          </a:xfrm>
          <a:prstGeom prst="rect">
            <a:avLst/>
          </a:prstGeom>
          <a:solidFill>
            <a:srgbClr val="14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设计全面达标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4447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D2F0"/>
                </a:solidFill>
              </a:defRPr>
            </a:pPr>
            <a:r>
              <a:t>ENOB&gt;11.4, SNR&gt;70dB, SFDR&gt;81dB, CAAZ η=87.9%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8229600" cy="822960"/>
          </a:xfrm>
          <a:prstGeom prst="rect">
            <a:avLst/>
          </a:prstGeom>
          <a:solidFill>
            <a:srgbClr val="14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td=26.0ns 最优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4505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D2F0"/>
                </a:solidFill>
              </a:defRPr>
            </a:pPr>
            <a:r>
              <a:t>高温角 SNR+1.8dB, 26.5ns 无额外收益, 功耗不变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83280"/>
            <a:ext cx="8229600" cy="822960"/>
          </a:xfrm>
          <a:prstGeom prst="rect">
            <a:avLst/>
          </a:prstGeom>
          <a:solidFill>
            <a:srgbClr val="14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🛡️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CAAZ 全角有效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4564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D2F0"/>
                </a:solidFill>
              </a:defRPr>
            </a:pPr>
            <a:r>
              <a:t>η 跨批次偏差 &lt;1.4 p.p., SF 角 79.7% 为瓶颈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389120"/>
            <a:ext cx="8229600" cy="822960"/>
          </a:xfrm>
          <a:prstGeom prst="rect">
            <a:avLst/>
          </a:prstGeom>
          <a:solidFill>
            <a:srgbClr val="14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功耗 ~720µW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4622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D2F0"/>
                </a:solidFill>
              </a:defRPr>
            </a:pPr>
            <a:r>
              <a:t>模拟 65% / 数字 35%, 预放 41% 可优化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394960"/>
            <a:ext cx="8229600" cy="822960"/>
          </a:xfrm>
          <a:prstGeom prst="rect">
            <a:avLst/>
          </a:prstGeom>
          <a:solidFill>
            <a:srgbClr val="14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440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440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数据跨批次可靠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4681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D2F0"/>
                </a:solidFill>
              </a:defRPr>
            </a:pPr>
            <a:r>
              <a:t>COMPOWER/η/ENOB 偏差可控, SWITCHPOWER 表达式待对齐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F5F5"/>
                </a:solidFill>
              </a:defRPr>
            </a:pPr>
            <a:r>
              <a:t>下一步：PEX 验证 → 低频噪声排查 → 预放电流优化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